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6366F1"/>
                </a:solidFill>
                <a:latin typeface="Outfit"/>
              </a:defRPr>
            </a:pPr>
            <a:r>
              <a:t>AIAM AGENTIC JOB SEARCH PLATFORM</a:t>
            </a:r>
          </a:p>
          <a:p>
            <a:pPr>
              <a:spcAft>
                <a:spcPts val="4800"/>
              </a:spcAft>
              <a:defRPr sz="2000">
                <a:solidFill>
                  <a:srgbClr val="F8FAFC"/>
                </a:solidFill>
                <a:latin typeface="Plus Jakarta Sans"/>
              </a:defRPr>
            </a:pPr>
            <a:r>
              <a:t>Scaling the 5-Agent Career Pipeline into Enterprise SaaS</a:t>
            </a:r>
          </a:p>
          <a:p>
            <a:pPr>
              <a:defRPr sz="1200" b="1">
                <a:solidFill>
                  <a:srgbClr val="10B981"/>
                </a:solidFill>
                <a:latin typeface="Plus Jakarta Sans"/>
              </a:defRPr>
            </a:pPr>
            <a:r>
              <a:t>Architecture &amp; Technical Roadmap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Outfit"/>
              </a:defRPr>
            </a:pPr>
            <a:r>
              <a:t>Platform Vision &amp; Scaling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366F1"/>
                </a:solidFill>
                <a:latin typeface="Outfit"/>
              </a:defRPr>
            </a:pPr>
            <a:r>
              <a:t>The Scaling Blueprint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Plus Jakarta Sans"/>
              </a:rPr>
              <a:t>• Decoupled Execution: </a:t>
            </a:r>
            <a:r>
              <a:rPr sz="1100">
                <a:solidFill>
                  <a:srgbClr val="F8FAFC"/>
                </a:solidFill>
                <a:latin typeface="Plus Jakarta Sans"/>
              </a:rPr>
              <a:t>Transition from client-side JavaScript execution to backend microservices (FastAPI, Go).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Plus Jakarta Sans"/>
              </a:rPr>
              <a:t>• Asynchronous Pipelines: </a:t>
            </a:r>
            <a:r>
              <a:rPr sz="1100">
                <a:solidFill>
                  <a:srgbClr val="F8FAFC"/>
                </a:solidFill>
                <a:latin typeface="Plus Jakarta Sans"/>
              </a:rPr>
              <a:t>Process multi-agent tasks out-of-band using message brokers to handle massive candidate cohorts.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Plus Jakarta Sans"/>
              </a:rPr>
              <a:t>• Semantic Intelligence: </a:t>
            </a:r>
            <a:r>
              <a:rPr sz="1100">
                <a:solidFill>
                  <a:srgbClr val="F8FAFC"/>
                </a:solidFill>
                <a:latin typeface="Plus Jakarta Sans"/>
              </a:rPr>
              <a:t>Shift from heuristic keyword matching to vector-based semantic embeddings to measure job fitment conceptual alignment.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Plus Jakarta Sans"/>
              </a:rPr>
              <a:t>• State Resiliency: </a:t>
            </a:r>
            <a:r>
              <a:rPr sz="1100">
                <a:solidFill>
                  <a:srgbClr val="F8FAFC"/>
                </a:solidFill>
                <a:latin typeface="Plus Jakarta Sans"/>
              </a:rPr>
              <a:t>Utilize Temporal.io engines to handle complex agent workflows, network recovery, and failovers.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46304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19672" y="16459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366F1"/>
                </a:solidFill>
                <a:latin typeface="Outfit"/>
              </a:defRPr>
            </a:pPr>
            <a:r>
              <a:t>Enterprise Features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Plus Jakarta Sans"/>
              </a:rPr>
              <a:t>• Multi-Tenancy: </a:t>
            </a:r>
            <a:r>
              <a:rPr sz="1100">
                <a:solidFill>
                  <a:srgbClr val="F8FAFC"/>
                </a:solidFill>
                <a:latin typeface="Plus Jakarta Sans"/>
              </a:rPr>
              <a:t>Isolate candidate pools, custom matching rules, and credentials per corporate workspace.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Plus Jakarta Sans"/>
              </a:rPr>
              <a:t>• Data Compliance: </a:t>
            </a:r>
            <a:r>
              <a:rPr sz="1100">
                <a:solidFill>
                  <a:srgbClr val="F8FAFC"/>
                </a:solidFill>
                <a:latin typeface="Plus Jakarta Sans"/>
              </a:rPr>
              <a:t>GDPR/CCPA compliant file handling, scanning, and secure at-rest encryption via AWS KMS.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Plus Jakarta Sans"/>
              </a:rPr>
              <a:t>• Semantic Caching: </a:t>
            </a:r>
            <a:r>
              <a:rPr sz="1100">
                <a:solidFill>
                  <a:srgbClr val="F8FAFC"/>
                </a:solidFill>
                <a:latin typeface="Plus Jakarta Sans"/>
              </a:rPr>
              <a:t>Reduce crawling costs by matching job listings against conceptual cache lines with a 12-hour TTL.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Plus Jakarta Sans"/>
              </a:rPr>
              <a:t>• Scale-Out Crawler Nodes: </a:t>
            </a:r>
            <a:r>
              <a:rPr sz="1100">
                <a:solidFill>
                  <a:srgbClr val="F8FAFC"/>
                </a:solidFill>
                <a:latin typeface="Plus Jakarta Sans"/>
              </a:rPr>
              <a:t>Run lightweight Golang worker pods scaling automatically with workload cues.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Outfit"/>
              </a:defRPr>
            </a:pPr>
            <a:r>
              <a:t>Target Microservices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1082009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6366F1"/>
                </a:solidFill>
                <a:latin typeface="Outfit"/>
              </a:rPr>
              <a:t>UI &amp; Access Ingress  |  </a:t>
            </a:r>
            <a:r>
              <a:rPr i="1" sz="1200">
                <a:solidFill>
                  <a:srgbClr val="10B981"/>
                </a:solidFill>
                <a:latin typeface="Plus Jakarta Sans"/>
              </a:rPr>
              <a:t>Kong API Gateway, JWT Auth0/Cognito, Cloudflare CDN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Plus Jakarta Sans"/>
              </a:defRPr>
            </a:pPr>
            <a:r>
              <a:t>Handles rate limiting, authentication, and secure request routing.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51760"/>
            <a:ext cx="1082009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457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6366F1"/>
                </a:solidFill>
                <a:latin typeface="Outfit"/>
              </a:rPr>
              <a:t>Event Orchestration  |  </a:t>
            </a:r>
            <a:r>
              <a:rPr i="1" sz="1200">
                <a:solidFill>
                  <a:srgbClr val="10B981"/>
                </a:solidFill>
                <a:latin typeface="Plus Jakarta Sans"/>
              </a:rPr>
              <a:t>Temporal.io Workflow Engine &amp; Kafka Broker queues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Plus Jakarta Sans"/>
              </a:defRPr>
            </a:pPr>
            <a:r>
              <a:t>Controls execution pipelines, distributes tasks, and captures states.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840480"/>
            <a:ext cx="1082009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105457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6366F1"/>
                </a:solidFill>
                <a:latin typeface="Outfit"/>
              </a:rPr>
              <a:t>Microservice Workers  |  </a:t>
            </a:r>
            <a:r>
              <a:rPr i="1" sz="1200">
                <a:solidFill>
                  <a:srgbClr val="10B981"/>
                </a:solidFill>
                <a:latin typeface="Plus Jakarta Sans"/>
              </a:rPr>
              <a:t>A1: Python Parser | A3: Go Scraper | A4: pgvector Embed Engine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Plus Jakarta Sans"/>
              </a:defRPr>
            </a:pPr>
            <a:r>
              <a:t>Autoscaling worker containers handling document parsing, vector indexing, and scraping.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029200"/>
            <a:ext cx="1082009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5457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6366F1"/>
                </a:solidFill>
                <a:latin typeface="Outfit"/>
              </a:rPr>
              <a:t>Resilient Persistence  |  </a:t>
            </a:r>
            <a:r>
              <a:rPr i="1" sz="1200">
                <a:solidFill>
                  <a:srgbClr val="10B981"/>
                </a:solidFill>
                <a:latin typeface="Plus Jakarta Sans"/>
              </a:rPr>
              <a:t>PostgreSQL, pgvector database, Redis Semantic Cache, AWS S3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Plus Jakarta Sans"/>
              </a:defRPr>
            </a:pPr>
            <a:r>
              <a:t>Secures structured metadata, file blobs, and vector indexing configurations.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Outfit"/>
              </a:defRPr>
            </a:pPr>
            <a:r>
              <a:t>Chronological 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59049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231617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6366F1"/>
                </a:solidFill>
                <a:latin typeface="Outfit"/>
              </a:defRPr>
            </a:pPr>
            <a:r>
              <a:t>Phase 1</a:t>
            </a:r>
          </a:p>
          <a:p>
            <a:pPr>
              <a:defRPr sz="1500" b="1">
                <a:solidFill>
                  <a:srgbClr val="F8FAFC"/>
                </a:solidFill>
                <a:latin typeface="Outfit"/>
              </a:defRPr>
            </a:pPr>
            <a:r>
              <a:t>Database &amp; Ingestion</a:t>
            </a:r>
          </a:p>
          <a:p>
            <a:pPr>
              <a:spcAft>
                <a:spcPts val="1200"/>
              </a:spcAft>
              <a:defRPr sz="1200" b="1" i="1">
                <a:solidFill>
                  <a:srgbClr val="10B981"/>
                </a:solidFill>
                <a:latin typeface="Plus Jakarta Sans"/>
              </a:defRPr>
            </a:pPr>
            <a:r>
              <a:t>Weeks 1 - 3</a:t>
            </a:r>
          </a:p>
          <a:p>
            <a:pPr>
              <a:defRPr sz="1050">
                <a:solidFill>
                  <a:srgbClr val="94A3B8"/>
                </a:solidFill>
                <a:latin typeface="Plus Jakarta Sans"/>
              </a:defRPr>
            </a:pPr>
            <a:r>
              <a:t>Deploy PostgreSQL/S3 schemas. Spin up Python FastAPI resume intake endpoint. Implement LLM-based structured skills extraction.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13455" y="1463040"/>
            <a:ext cx="259049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50615" y="1645920"/>
            <a:ext cx="231617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6366F1"/>
                </a:solidFill>
                <a:latin typeface="Outfit"/>
              </a:defRPr>
            </a:pPr>
            <a:r>
              <a:t>Phase 2</a:t>
            </a:r>
          </a:p>
          <a:p>
            <a:pPr>
              <a:defRPr sz="1500" b="1">
                <a:solidFill>
                  <a:srgbClr val="F8FAFC"/>
                </a:solidFill>
                <a:latin typeface="Outfit"/>
              </a:defRPr>
            </a:pPr>
            <a:r>
              <a:t>Go Crawler Core</a:t>
            </a:r>
          </a:p>
          <a:p>
            <a:pPr>
              <a:spcAft>
                <a:spcPts val="1200"/>
              </a:spcAft>
              <a:defRPr sz="1200" b="1" i="1">
                <a:solidFill>
                  <a:srgbClr val="10B981"/>
                </a:solidFill>
                <a:latin typeface="Plus Jakarta Sans"/>
              </a:defRPr>
            </a:pPr>
            <a:r>
              <a:t>Weeks 4 - 6</a:t>
            </a:r>
          </a:p>
          <a:p>
            <a:pPr>
              <a:defRPr sz="1050">
                <a:solidFill>
                  <a:srgbClr val="94A3B8"/>
                </a:solidFill>
                <a:latin typeface="Plus Jakarta Sans"/>
              </a:defRPr>
            </a:pPr>
            <a:r>
              <a:t>Assemble Go job crawlers. Wire Kafka scheduler queues, proxy server rotation hooks, and Redis query caching mechanisms.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41110" y="1463040"/>
            <a:ext cx="259049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8270" y="1645920"/>
            <a:ext cx="231617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6366F1"/>
                </a:solidFill>
                <a:latin typeface="Outfit"/>
              </a:defRPr>
            </a:pPr>
            <a:r>
              <a:t>Phase 3</a:t>
            </a:r>
          </a:p>
          <a:p>
            <a:pPr>
              <a:defRPr sz="1500" b="1">
                <a:solidFill>
                  <a:srgbClr val="F8FAFC"/>
                </a:solidFill>
                <a:latin typeface="Outfit"/>
              </a:defRPr>
            </a:pPr>
            <a:r>
              <a:t>Vector Score Engine</a:t>
            </a:r>
          </a:p>
          <a:p>
            <a:pPr>
              <a:spcAft>
                <a:spcPts val="1200"/>
              </a:spcAft>
              <a:defRPr sz="1200" b="1" i="1">
                <a:solidFill>
                  <a:srgbClr val="10B981"/>
                </a:solidFill>
                <a:latin typeface="Plus Jakarta Sans"/>
              </a:defRPr>
            </a:pPr>
            <a:r>
              <a:t>Weeks 7 - 9</a:t>
            </a:r>
          </a:p>
          <a:p>
            <a:pPr>
              <a:defRPr sz="1050">
                <a:solidFill>
                  <a:srgbClr val="94A3B8"/>
                </a:solidFill>
                <a:latin typeface="Plus Jakarta Sans"/>
              </a:defRPr>
            </a:pPr>
            <a:r>
              <a:t>Establish vector parsing pipelines. Calculate semantic cosine similarity scoring matrices and auto-generate covering letters.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8765" y="1463040"/>
            <a:ext cx="259049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5925" y="1645920"/>
            <a:ext cx="231617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6366F1"/>
                </a:solidFill>
                <a:latin typeface="Outfit"/>
              </a:defRPr>
            </a:pPr>
            <a:r>
              <a:t>Phase 4</a:t>
            </a:r>
          </a:p>
          <a:p>
            <a:pPr>
              <a:defRPr sz="1500" b="1">
                <a:solidFill>
                  <a:srgbClr val="F8FAFC"/>
                </a:solidFill>
                <a:latin typeface="Outfit"/>
              </a:defRPr>
            </a:pPr>
            <a:r>
              <a:t>Orchestration &amp; Next.js</a:t>
            </a:r>
          </a:p>
          <a:p>
            <a:pPr>
              <a:spcAft>
                <a:spcPts val="1200"/>
              </a:spcAft>
              <a:defRPr sz="1200" b="1" i="1">
                <a:solidFill>
                  <a:srgbClr val="10B981"/>
                </a:solidFill>
                <a:latin typeface="Plus Jakarta Sans"/>
              </a:defRPr>
            </a:pPr>
            <a:r>
              <a:t>Weeks 10 - 12</a:t>
            </a:r>
          </a:p>
          <a:p>
            <a:pPr>
              <a:defRPr sz="1050">
                <a:solidFill>
                  <a:srgbClr val="94A3B8"/>
                </a:solidFill>
                <a:latin typeface="Plus Jakarta Sans"/>
              </a:defRPr>
            </a:pPr>
            <a:r>
              <a:t>Deploy Temporal.io workers. Re-map sequential states into typescript workflows. Build the React Next.js user panel.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Outfit"/>
              </a:defRPr>
            </a:pPr>
            <a:r>
              <a:t>Risk Mitigation &amp; Data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1082009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11D48"/>
                </a:solidFill>
                <a:latin typeface="Outfit"/>
              </a:rPr>
              <a:t>Risk: API Rate Limiting &amp; Proxy Failures   </a:t>
            </a:r>
          </a:p>
          <a:p>
            <a:pPr>
              <a:spcAft>
                <a:spcPts val="200"/>
              </a:spcAft>
              <a:defRPr sz="1100">
                <a:latin typeface="Plus Jakarta Sans"/>
              </a:defRPr>
            </a:pPr>
            <a:r>
              <a:rPr b="1">
                <a:solidFill>
                  <a:srgbClr val="F8FAFC"/>
                </a:solidFill>
              </a:rPr>
              <a:t>Scenario: </a:t>
            </a:r>
            <a:r>
              <a:rPr>
                <a:solidFill>
                  <a:srgbClr val="94A3B8"/>
                </a:solidFill>
              </a:rPr>
              <a:t>External crawling endpoints throttle heavy loads.</a:t>
            </a:r>
          </a:p>
          <a:p>
            <a:pPr>
              <a:defRPr sz="1100">
                <a:latin typeface="Plus Jakarta Sans"/>
              </a:defRPr>
            </a:pPr>
            <a:r>
              <a:rPr b="1">
                <a:solidFill>
                  <a:srgbClr val="10B981"/>
                </a:solidFill>
              </a:rPr>
              <a:t>Mitigation: </a:t>
            </a:r>
            <a:r>
              <a:rPr>
                <a:solidFill>
                  <a:srgbClr val="F8FAFC"/>
                </a:solidFill>
              </a:rPr>
              <a:t>Integrate rotating proxies, randomize user-agents, and cache crawler responses in Redis (12-hour TTL) to keep external network footprints minimal.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51760"/>
            <a:ext cx="1082009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457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11D48"/>
                </a:solidFill>
                <a:latin typeface="Outfit"/>
              </a:rPr>
              <a:t>Risk: Token Bloat &amp; LLM Cost Scaling   </a:t>
            </a:r>
          </a:p>
          <a:p>
            <a:pPr>
              <a:spcAft>
                <a:spcPts val="200"/>
              </a:spcAft>
              <a:defRPr sz="1100">
                <a:latin typeface="Plus Jakarta Sans"/>
              </a:defRPr>
            </a:pPr>
            <a:r>
              <a:rPr b="1">
                <a:solidFill>
                  <a:srgbClr val="F8FAFC"/>
                </a:solidFill>
              </a:rPr>
              <a:t>Scenario: </a:t>
            </a:r>
            <a:r>
              <a:rPr>
                <a:solidFill>
                  <a:srgbClr val="94A3B8"/>
                </a:solidFill>
              </a:rPr>
              <a:t>Repeated high-context model calls scale pricing rapidly.</a:t>
            </a:r>
          </a:p>
          <a:p>
            <a:pPr>
              <a:defRPr sz="1100">
                <a:latin typeface="Plus Jakarta Sans"/>
              </a:defRPr>
            </a:pPr>
            <a:r>
              <a:rPr b="1">
                <a:solidFill>
                  <a:srgbClr val="10B981"/>
                </a:solidFill>
              </a:rPr>
              <a:t>Mitigation: </a:t>
            </a:r>
            <a:r>
              <a:rPr>
                <a:solidFill>
                  <a:srgbClr val="F8FAFC"/>
                </a:solidFill>
              </a:rPr>
              <a:t>Optimize parsing prompts, employ smaller fine-tuned models for extraction (A1) and scoring (A4), and leverage semantic caching for candidate queries.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840480"/>
            <a:ext cx="1082009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105457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11D48"/>
                </a:solidFill>
                <a:latin typeface="Outfit"/>
              </a:rPr>
              <a:t>Risk: PII and Resume Document Exposure   </a:t>
            </a:r>
          </a:p>
          <a:p>
            <a:pPr>
              <a:spcAft>
                <a:spcPts val="200"/>
              </a:spcAft>
              <a:defRPr sz="1100">
                <a:latin typeface="Plus Jakarta Sans"/>
              </a:defRPr>
            </a:pPr>
            <a:r>
              <a:rPr b="1">
                <a:solidFill>
                  <a:srgbClr val="F8FAFC"/>
                </a:solidFill>
              </a:rPr>
              <a:t>Scenario: </a:t>
            </a:r>
            <a:r>
              <a:rPr>
                <a:solidFill>
                  <a:srgbClr val="94A3B8"/>
                </a:solidFill>
              </a:rPr>
              <a:t>Candidate profiles contain sensitive personal data.</a:t>
            </a:r>
          </a:p>
          <a:p>
            <a:pPr>
              <a:defRPr sz="1100">
                <a:latin typeface="Plus Jakarta Sans"/>
              </a:defRPr>
            </a:pPr>
            <a:r>
              <a:rPr b="1">
                <a:solidFill>
                  <a:srgbClr val="10B981"/>
                </a:solidFill>
              </a:rPr>
              <a:t>Mitigation: </a:t>
            </a:r>
            <a:r>
              <a:rPr>
                <a:solidFill>
                  <a:srgbClr val="F8FAFC"/>
                </a:solidFill>
              </a:rPr>
              <a:t>Enforce file scans on drop, isolate tenants, mask identifiers prior to fitment evaluation, and encrypt files at rest (S3 KMS) and in transit (TLS 1.3).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029200"/>
            <a:ext cx="1082009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5457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11D48"/>
                </a:solidFill>
                <a:latin typeface="Outfit"/>
              </a:rPr>
              <a:t>Risk: Model Alignment &amp; Semantic Drift   </a:t>
            </a:r>
          </a:p>
          <a:p>
            <a:pPr>
              <a:spcAft>
                <a:spcPts val="200"/>
              </a:spcAft>
              <a:defRPr sz="1100">
                <a:latin typeface="Plus Jakarta Sans"/>
              </a:defRPr>
            </a:pPr>
            <a:r>
              <a:rPr b="1">
                <a:solidFill>
                  <a:srgbClr val="F8FAFC"/>
                </a:solidFill>
              </a:rPr>
              <a:t>Scenario: </a:t>
            </a:r>
            <a:r>
              <a:rPr>
                <a:solidFill>
                  <a:srgbClr val="94A3B8"/>
                </a:solidFill>
              </a:rPr>
              <a:t>AI scores could drift from actual user alignment criteria.</a:t>
            </a:r>
          </a:p>
          <a:p>
            <a:pPr>
              <a:defRPr sz="1100">
                <a:latin typeface="Plus Jakarta Sans"/>
              </a:defRPr>
            </a:pPr>
            <a:r>
              <a:rPr b="1">
                <a:solidFill>
                  <a:srgbClr val="10B981"/>
                </a:solidFill>
              </a:rPr>
              <a:t>Mitigation: </a:t>
            </a:r>
            <a:r>
              <a:rPr>
                <a:solidFill>
                  <a:srgbClr val="F8FAFC"/>
                </a:solidFill>
              </a:rPr>
              <a:t>Introduce standard candidate test benches to benchmark fitment score outputs regularly against verified recruiter choices.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